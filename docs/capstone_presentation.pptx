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ACADEMIC CAPSTONE DEFENSE | APPLIED MACHINE LEARNING &amp; PRODUCT INTELLIGENCE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AI Product Intelligence &amp; Feedback Analyzer</a:t>
            </a:r>
          </a:p>
          <a:p>
            <a:pPr>
              <a:spcAft>
                <a:spcPts val="3600"/>
              </a:spcAft>
              <a:defRPr sz="1700">
                <a:solidFill>
                  <a:srgbClr val="CBD5E1"/>
                </a:solidFill>
              </a:defRPr>
            </a:pPr>
            <a:r>
              <a:t>A Rigorous Empirical Comparison of Sparse N-Gram (TF-IDF) vs. Dense Semantic (Sentence Transformers) Clustering for Product Feedback Triage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Author / Candidate: Project Candidate [Placeholder]</a:t>
            </a:r>
            <a:br/>
            <a:r>
              <a:t>Institution / Faculty: Faculty of Computer Science &amp; Software Engineering [Placeholder]</a:t>
            </a:r>
            <a:br/>
            <a:r>
              <a:t>Academic Mentor: Academic Mentor / Advisor [Placeholder] |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Industry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Voice-of-Customer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Volume Overload: SaaS platforms receive thousands of unstructured feedback items across app stores, emails, and tickets weekly.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Vocabulary Mismatch: Customers rarely use engineering jargon. They express identical underlying defects using completely different terminology (e.g., 'freezes on save' vs 'crashes on document download').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Manual Triage Bottleneck: Product teams spend dozens of hours manually tagging tickets, resulting in delayed fixes and customer churn.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Need for Local Intelligence: Many organizations prohibit sending proprietary customer telemetry to commercial cloud APIs due to privacy (GDPR/HIPAA) or cost restrictions.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Core Engineering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100% Local &amp; Deterministic: Zero reliance on paid cloud LLMs or recurring API subscriptions.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Rigorous Comparative Evaluation: Evaluate whether modern neural dense embeddings objectively justify their compute cost over classical TF-IDF.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Actionable Decision Support: Transform raw clusters into evidence-grounded engineering recommendations tied directly to verbatim customer quotes.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Explainability &amp; Trust: Demystify cluster assignments with centroid distance distributions, top keywords, and representative quotes.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Formal Research Question &amp; Hypotheses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14630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Primary 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“Does sentence-embedding-based clustering group differently worded product feedback more usefully than a traditional TF-IDF-based approach?”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1206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Hypothesis H1 (Semantic Capture)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404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Dense continuous representations (Sentence Transformers) will achieve statistically higher external agreement (ARI) and pairwise grouping F1 on paraphrased complaints lacking exact lexical token overlap, preventing issue fragmentation.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21208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474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Hypothesis H2 (Computational Trade-Off)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8404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Classical TF-IDF will achieve orders-of-magnitude lower execution latency (&lt;100ms) and demonstrate superior precision in isolating distinct technical vocabulary outliers (such as rare billing bugs or unique error codes), providing a strong baseline for real-time triage.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Ingestion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Multi-channel feedback (CSV, text)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Context extraction (manual/URL)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Deduplication &amp; normalization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Data integrity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55448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Dual ML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9312" y="219456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TF-IDF (1-2 n-grams, sublinear)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MiniLM-L6-v2 (384-dim dense)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K-Means++ clustering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Strict label isolation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5448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Decision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219456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Product relevance scoring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Negative impact ranking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Rule-based recommendation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Verbatim quote grounding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55448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34856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Explainability &amp;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9136" y="219456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Centroid distance distributions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Top TF-IDF keywords / themes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Interactive Streamlit UI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• Local SQLite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Methodological Rigor &amp; Ground-Truth Isolation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Strict Label Isolation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Zero Data Contamination: Evaluation labels (`data/evaluation_labels.csv`) are physically stored in a separate file and never read by feature extraction or clustering modules.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Unsupervised Vectorization: Both TF-IDF and Sentence Transformers fit strictly on raw customer text.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Post-Hoc Metric Calculation: Adjusted Rand Index (ARI) and Normalized Mutual Information (NMI) are calculated only after unsupervised clustering completes.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Blinded Decision Support: Applicability, recommendation, and explanation modules have zero access to ground truth labels.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Multi-Faceted Metric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External Agreement (ARI &amp; NMI): Quantifies partition alignment against 10 ground truth reference themes.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Pairwise Semantic Grouping (P, R, F1): Evaluates all 190 document pairs ($N=20$) to directly test whether identical issues are co-clustered.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Internal Geometric Scores: Silhouette and Davies-Bouldin indices (reported separately within native feature spaces).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Human Usefulness Proxy Rubric: Evaluates cluster thematic purity and centroid representative quote fidelity.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System Execution Latency: Cold-start vs. warmed inference latency in milliseconds.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Controlled Benchmark Results (Averaged across Seeds)</a:t>
            </a:r>
          </a:p>
        </p:txBody>
      </p:sp>
      <p:pic>
        <p:nvPicPr>
          <p:cNvPr id="3" name="Picture 2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217920" cy="4663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554480"/>
            <a:ext cx="42976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60920" y="1737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Key Quantitative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219456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External Agreement (ARI):</a:t>
            </a:r>
            <a:br/>
            <a:r>
              <a:t>• Sentence Transformers: 0.6149 ± 0.1534</a:t>
            </a:r>
            <a:br/>
            <a:r>
              <a:t>• TF-IDF Baseline: 0.2647 ± 0.1764</a:t>
            </a:r>
            <a:br/>
            <a:r>
              <a:t>*(MiniLM achieved +132% higher reference alignment)*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Pairwise Semantic F1:</a:t>
            </a:r>
            <a:br/>
            <a:r>
              <a:t>• Sentence Transformers: 0.6680</a:t>
            </a:r>
            <a:br/>
            <a:r>
              <a:t>• TF-IDF Baseline: 0.3744</a:t>
            </a:r>
            <a:br/>
            <a:r>
              <a:t>*(MiniLM achieved perfect 1.0 recall across all seeds)*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Cross-Model Agreement:</a:t>
            </a:r>
            <a:br/>
            <a:r>
              <a:t>• Partition ARI: 0.3339 ± 0.1861</a:t>
            </a:r>
            <a:br/>
            <a:r>
              <a:t>*(Models agree on dense crashes, but diverge on nuanced UI/features)*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Execution Runtime:</a:t>
            </a:r>
            <a:br/>
            <a:r>
              <a:t>• TF-IDF: 64.4 ms (fast across all fits)</a:t>
            </a:r>
            <a:br/>
            <a:r>
              <a:t>• MiniLM Warmed: 62.8 ms (comparable to TF-IDF)</a:t>
            </a:r>
            <a:br/>
            <a:r>
              <a:t>• MiniLM Cold-Start: 19.57 s (one-time weight load)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Execution Latency &amp; Cross-Model Partition Divergence</a:t>
            </a:r>
          </a:p>
        </p:txBody>
      </p:sp>
      <p:pic>
        <p:nvPicPr>
          <p:cNvPr id="3" name="Picture 2" descr="runt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120640" cy="4389120"/>
          </a:xfrm>
          <a:prstGeom prst="rect">
            <a:avLst/>
          </a:prstGeom>
        </p:spPr>
      </p:pic>
      <p:pic>
        <p:nvPicPr>
          <p:cNvPr id="4" name="Picture 3" descr="pairwis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Qualitative Case Study: Paraphrase Grouping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Evaluated Records: Search Latency Complaints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FB08: "Searching through customer records takes over 30 seconds." (Rating 2.0)</a:t>
            </a:r>
            <a:br/>
            <a:r>
              <a:t>FB09: "Search functionality is painfully sluggish on larger lists." (Rating 2.0)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1206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3832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Method A: TF-IDF (Fragmented)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49039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Assignment: FB08 -&gt; Cluster 3 (size 2); FB09 -&gt; Cluster 2 (size 11)</a:t>
            </a:r>
            <a:br/>
            <a:r>
              <a:t>• Failure Mechanism: High-dimensional n-gram sparsity. Unique tokens ('30 seconds', 'larger lists', 'painfully sluggish') diverged cosine similarity below cluster threshold.</a:t>
            </a:r>
            <a:br/>
            <a:r>
              <a:t>• Consequence: Issue is split. Product manager sees an isolated complaint and misses the cumulative severity.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21208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383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Method B: Sentence Transformers (United)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749039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Assignment: FB08 -&gt; Cluster 0; FB09 -&gt; Cluster 0 (size 5)</a:t>
            </a:r>
            <a:br/>
            <a:r>
              <a:t>• Success Mechanism: Pretrained neural semantic space maps 'takes 30 seconds' and 'painfully sluggish' to nearby dense geometric coordinates.</a:t>
            </a:r>
            <a:br/>
            <a:r>
              <a:t>• Consequence: Clean, actionable performance cluster containing all search complaints.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Qualitative Case Study: The TF-IDF Catch-All Failure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TF-IDF Cluster 2: 11 Items Absorbed (55%)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• FB06: Session timeouts and 2FA SMS delayed 15 mins (Auth)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FB07: Cannot log in, verification code not sent (Auth)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FB09: Search sluggish on larger lists (Performance)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FB10: Add dark mode support, hurts eyes (Feature)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FB11: Dark theme option for low light (Feature)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FB12: Bulk import CSV from Google Drive (Feature)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FB13: Slack webhook integration (Feature)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FB14: Clean interface made onboarding seamless (UX Praise)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FB17: Documentation page 404 error on API (Doc Bug)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FB20: Dark mode please! (Feature)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Root Cause &amp; Product Implications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Mathematical Cause: In small corpora, distinct non-overlapping vocabularies have orthogonal distance ($d = \sqrt{2}$). K-Means assigns orthogonal items to a diffuse residual centroid.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Critical Product Hazard: Severe security bugs (login timeouts, 2FA failures) are drowned out inside cosmetic theme requests and onboarding praise.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Sentence Transformers Solution: Formed 4 balanced clusters of size 5: C0 (Speed/Search), C1 (Auth/Admin/404), C2 (PDF Export Crashes), C3 (UI/Themes/Integrations).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Decision Support: Evidence-Grounded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Negative Impact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Calculated as: `size * (5 - avg_rating) * bug_ratio`. Prioritizes widespread, critical defects over isolated cosmetic issues.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Applicability 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Evaluates feedback against ingested product context (e.g., target audience, product domain). Rejects out-of-scope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Recommendation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548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Generates concrete action steps grounded in verbatim quotes. Rules map issue types to engineering, design, or doc sprints.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06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Explainability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7548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Provides centroid distance histograms, top keywords, and representative quotes so product owners understand WHY clusters formed.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Interactive Application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Five Fully Functional Streamlit Tabs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Tab 1: Product Definition &amp; Context Ingestion — Paste context or ingest public product URLs with SSRF protection.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Tab 2: Feedback Ingestion &amp; Validation — Load sample data, upload custom CSVs, or paste text with deduplication.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Tab 3: Dual Clustering &amp; Model Comparison — Side-by-side execution of TF-IDF vs. Sentence Transformers with interactive metric inspection.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Tab 4: Evidence-Grounded Recommendations — Actionable advice cards sorted by Negative Impact Score with verbatim quote grounding.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Tab 5: Analysis History &amp; Persistence — Local SQLite storage of analysis runs with search, filtering, and reload capabilities.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Threats to Validity &amp; Methodological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Scientific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Synthetic Dataset Scope ($N=20$): Curated specifically to model paraphrase challenges. Generalization to large uncurated customer telemetry requires empirical replication.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Single Annotator Reference: Reference themes were defined by the system design team without multi-annotator agreement metrics (Cohen's Kappa).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K-Means Spherical Geometry: Assumes convex clusters; forces noise and outliers into nearest centroid.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Topic vs. Sentiment Confusion: Sentence Transformers groups by semantic topic regardless of sentiment (e.g., speed complaints grouped with speed praise).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Ethical &amp; Data Privacy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100% Local Processing: Customer feedback is processed locally without transmitting confidential user data or PII to external cloud APIs.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Algorithmic Bias in Embeddings: Pretrained embeddings reflect training corpus biases; rare domain dialects may be misclustered.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Transparent Decision Support: Recommendations are rule-based and transparent, avoiding 'black-box' hallucinations.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Data Minimization: No personal credentials, session tokens, or private keys are stored.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Core Research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Answering the 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1. Sentence Transformers definitively out-groups differently worded feedback: Achieving Mean ARI of 0.6149 (vs 0.2647 for TF-IDF) and Pairwise F1 of 0.6680 (vs 0.3744), dense embeddings successfully resolve the vocabulary mismatch problem in product feedback.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2. TF-IDF remains an essential baseline: For low-latency triage (&lt;100ms) and isolating unique vocabulary outliers (billing disputes, error codes), TF-IDF is highly effective and computationally lightweight.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3. No Single 'Universal Winner': The optimal architecture is a hybrid: Sentence Transformers for conceptual theme discovery, coupled with TF-IDF keyword indexing for exact error search.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</a:defRPr>
            </a:pPr>
            <a:r>
              <a:t>4. Complete Capstone Delivery: 60 automated passing tests, clean installation verification, SQLite persistence, and interactive Streamlit UI.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Future Work &amp; Architecture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HDBSCAN &amp; Density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Replace K-Means with HDBSCAN to eliminate the requirement to specify $k$ in advance and allow natural outlier identification without forcing residual clusters.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55448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Multi-Annotator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9312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Collect multi-annotator real-world customer telemetry across diverse software domains with formal Inter-Annotator Agreement (Cohen's Kappa / Fleiss' Kappa).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5448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Contrastive Domain Fine-Tuning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Fine-tune `all-MiniLM-L6-v2` using contrastive triplet loss on SaaS-specific technical error logs and customer bug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55448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34856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Automated Issue Tracker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9136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Direct two-way synchronization of evidence-grounded recommendations into Jira, GitHub Issues, and Linear boards.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AI PRODUCT INTELLIGENCE &amp; FEEDBACK ANALYZER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Key References &amp; Academic Defense Closure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Academic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Reimers, N., &amp; Gurevych, I. (2019). Sentence-BERT: Sentence Embeddings using Siamese BERT-Networks. In EMNLP-IJCNLP 2019 (pp. 3982–3992).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Salton, G., &amp; Buckley, C. (1988). Term-weighting approaches in automatic text retrieval. Information Processing &amp; Management, 24(5), 513–523.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MacQueen, J. (1967). Some methods for classification and analysis of multivariate observations. Proc. 5th Berkeley Symp. Math. Statist. Prob., 1, 281–297.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Hubert, L., &amp; Arabie, P. (1985). Comparing partitions. Journal of Classification, 2(1), 193–218.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Strehl, A., &amp; Ghosh, J. (2002). Cluster ensembles—a knowledge reuse framework for combining multiple partitions. JMLR, 3, 583–617.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Rousseeuw, P. J. (1987). Silhouettes: a graphical aid to the interpretation and validation of cluster analysis. J. Comput. Appl. Math., 20, 53–65.</a:t>
            </a:r>
          </a:p>
          <a:p>
            <a:br/>
            <a:pPr>
              <a:defRPr sz="1500" b="1">
                <a:solidFill>
                  <a:srgbClr val="2563EB"/>
                </a:solidFill>
              </a:defRPr>
            </a:pPr>
            <a:r>
              <a:t>Thank you. Questions and defense discussion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